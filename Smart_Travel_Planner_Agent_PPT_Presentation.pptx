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83" r:id="rId2"/>
    <p:sldId id="257" r:id="rId3"/>
    <p:sldId id="282" r:id="rId4"/>
    <p:sldId id="284" r:id="rId5"/>
    <p:sldId id="285" r:id="rId6"/>
    <p:sldId id="281" r:id="rId7"/>
    <p:sldId id="279" r:id="rId8"/>
    <p:sldId id="262" r:id="rId9"/>
    <p:sldId id="264" r:id="rId10"/>
    <p:sldId id="278" r:id="rId11"/>
    <p:sldId id="286" r:id="rId12"/>
    <p:sldId id="277" r:id="rId13"/>
    <p:sldId id="289" r:id="rId14"/>
    <p:sldId id="287" r:id="rId15"/>
    <p:sldId id="280" r:id="rId16"/>
    <p:sldId id="288" r:id="rId17"/>
    <p:sldId id="276"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104" d="100"/>
          <a:sy n="104" d="100"/>
        </p:scale>
        <p:origin x="75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15397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649934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990088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jpeg"/><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hyperlink" Target="https://smart-travel-planner-agent.onrender.com/"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hyperlink" Target="https://www.linkedin.com/posts/amisha6828_ibm-ibmskillsbuild-edunetfoundation-ugcPost-7469710786639130624-_gRG/" TargetMode="External"/><Relationship Id="rId4" Type="http://schemas.openxmlformats.org/officeDocument/2006/relationships/hyperlink" Target="https://github.com/Goldi-Insights/Smart-Travel-Planner-Agent"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a:xfrm>
            <a:off x="838200" y="1217392"/>
            <a:ext cx="10515600" cy="1904319"/>
          </a:xfrm>
        </p:spPr>
        <p:txBody>
          <a:bodyPr>
            <a:noAutofit/>
          </a:bodyPr>
          <a:lstStyle/>
          <a:p>
            <a:pPr algn="ctr"/>
            <a:r>
              <a:rPr lang="en-US" sz="5400" b="1" dirty="0">
                <a:latin typeface="Bookman Old Style" panose="02050604050505020204" pitchFamily="18" charset="0"/>
              </a:rPr>
              <a:t>IBM University Engagement Project Submission</a:t>
            </a:r>
            <a:br>
              <a:rPr lang="en-US" sz="4800" b="1" dirty="0">
                <a:latin typeface="Bookman Old Style" panose="02050604050505020204" pitchFamily="18" charset="0"/>
              </a:rPr>
            </a:br>
            <a:endParaRPr lang="en-IN" sz="4800" dirty="0">
              <a:latin typeface="Bookman Old Style" panose="02050604050505020204" pitchFamily="18" charset="0"/>
            </a:endParaRPr>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normAutofit/>
          </a:bodyPr>
          <a:lstStyle/>
          <a:p>
            <a:pPr algn="ctr"/>
            <a:r>
              <a:rPr lang="en-IN" sz="2800" b="1" dirty="0"/>
              <a:t>“AI-Powered Multi-Agent Travel Planning System using IBM watsonx.ai, </a:t>
            </a:r>
            <a:r>
              <a:rPr lang="en-IN" sz="2800" b="1" dirty="0" err="1"/>
              <a:t>LangFlow</a:t>
            </a:r>
            <a:r>
              <a:rPr lang="en-IN" sz="2800" b="1" dirty="0"/>
              <a:t>, RAG and Machine Learning”</a:t>
            </a:r>
          </a:p>
          <a:p>
            <a:pPr algn="ctr"/>
            <a:endParaRPr lang="en-IN" sz="2800" b="1" dirty="0"/>
          </a:p>
        </p:txBody>
      </p:sp>
      <p:sp>
        <p:nvSpPr>
          <p:cNvPr id="4" name="Text Placeholder 2">
            <a:extLst>
              <a:ext uri="{FF2B5EF4-FFF2-40B4-BE49-F238E27FC236}">
                <a16:creationId xmlns:a16="http://schemas.microsoft.com/office/drawing/2014/main" id="{1831BE19-7170-4C8F-B9A2-2D363D8A63AD}"/>
              </a:ext>
            </a:extLst>
          </p:cNvPr>
          <p:cNvSpPr txBox="1">
            <a:spLocks/>
          </p:cNvSpPr>
          <p:nvPr/>
        </p:nvSpPr>
        <p:spPr>
          <a:xfrm>
            <a:off x="838200" y="2843215"/>
            <a:ext cx="10515600" cy="977672"/>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pPr algn="ctr"/>
            <a:r>
              <a:rPr lang="en-IN" sz="4400" b="1" dirty="0">
                <a:solidFill>
                  <a:schemeClr val="tx1"/>
                </a:solidFill>
                <a:latin typeface="Bookman Old Style" panose="02050604050505020204" pitchFamily="18" charset="0"/>
              </a:rPr>
              <a:t>Smart Travel Planner Agent</a:t>
            </a:r>
          </a:p>
          <a:p>
            <a:pPr algn="ctr"/>
            <a:endParaRPr lang="en-IN" sz="4400" dirty="0">
              <a:solidFill>
                <a:schemeClr val="tx1"/>
              </a:solidFill>
              <a:latin typeface="Bookman Old Style" panose="02050604050505020204" pitchFamily="18" charset="0"/>
            </a:endParaRPr>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276518252"/>
              </p:ext>
            </p:extLst>
          </p:nvPr>
        </p:nvGraphicFramePr>
        <p:xfrm>
          <a:off x="1299255" y="2432131"/>
          <a:ext cx="9394989" cy="2414387"/>
        </p:xfrm>
        <a:graphic>
          <a:graphicData uri="http://schemas.openxmlformats.org/drawingml/2006/table">
            <a:tbl>
              <a:tblPr>
                <a:noFill/>
                <a:tableStyleId>{0AAD8F4D-43EB-41E5-8A38-28AB6DFB1B60}</a:tableStyleId>
              </a:tblPr>
              <a:tblGrid>
                <a:gridCol w="2325688">
                  <a:extLst>
                    <a:ext uri="{9D8B030D-6E8A-4147-A177-3AD203B41FA5}">
                      <a16:colId xmlns:a16="http://schemas.microsoft.com/office/drawing/2014/main" val="20000"/>
                    </a:ext>
                  </a:extLst>
                </a:gridCol>
                <a:gridCol w="2068286">
                  <a:extLst>
                    <a:ext uri="{9D8B030D-6E8A-4147-A177-3AD203B41FA5}">
                      <a16:colId xmlns:a16="http://schemas.microsoft.com/office/drawing/2014/main" val="20002"/>
                    </a:ext>
                  </a:extLst>
                </a:gridCol>
                <a:gridCol w="2557641">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5098">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439289">
                <a:tc>
                  <a:txBody>
                    <a:bodyPr/>
                    <a:lstStyle/>
                    <a:p>
                      <a:pPr marL="0" marR="0" lvl="0" indent="0" algn="ctr" rtl="0">
                        <a:spcBef>
                          <a:spcPts val="0"/>
                        </a:spcBef>
                        <a:spcAft>
                          <a:spcPts val="0"/>
                        </a:spcAft>
                        <a:buNone/>
                      </a:pPr>
                      <a:r>
                        <a:rPr lang="en-IN" sz="2400" b="1" dirty="0" err="1"/>
                        <a:t>Goldi</a:t>
                      </a:r>
                      <a:r>
                        <a:rPr lang="en-IN" sz="2400" b="1" dirty="0"/>
                        <a:t> Kumari</a:t>
                      </a:r>
                      <a:endParaRPr sz="2400" b="1"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IN" sz="1600" b="1" dirty="0"/>
                        <a:t>amisha6828@gmail.com</a:t>
                      </a:r>
                      <a:endParaRPr sz="1600" b="1"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IN" sz="2400" b="1" dirty="0"/>
                        <a:t>8088186828</a:t>
                      </a:r>
                      <a:endParaRPr sz="2400" b="1"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a:blip r:embed="rId3"/>
          <a:stretch>
            <a:fillRect/>
          </a:stretch>
        </p:blipFill>
        <p:spPr>
          <a:xfrm>
            <a:off x="4077700" y="3488040"/>
            <a:ext cx="1093013" cy="1228868"/>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79047"/>
            <a:ext cx="10280254" cy="523220"/>
          </a:xfrm>
          <a:prstGeom prst="rect">
            <a:avLst/>
          </a:prstGeom>
          <a:noFill/>
        </p:spPr>
        <p:txBody>
          <a:bodyPr wrap="square" rtlCol="0">
            <a:spAutoFit/>
          </a:bodyPr>
          <a:lstStyle/>
          <a:p>
            <a:r>
              <a:rPr lang="en-US" sz="2800" b="1" dirty="0"/>
              <a:t>Domain of  Project </a:t>
            </a:r>
            <a:r>
              <a:rPr lang="en-US" sz="2400" b="1" dirty="0"/>
              <a:t>– </a:t>
            </a:r>
            <a:r>
              <a:rPr lang="en-US" sz="2400" b="1" dirty="0">
                <a:highlight>
                  <a:srgbClr val="FFFF00"/>
                </a:highlight>
              </a:rPr>
              <a:t>[</a:t>
            </a:r>
            <a:r>
              <a:rPr lang="en-IN" sz="2800" b="1" dirty="0">
                <a:highlight>
                  <a:srgbClr val="FFFF00"/>
                </a:highlight>
              </a:rPr>
              <a:t>Travel &amp; Tourism</a:t>
            </a:r>
            <a:r>
              <a:rPr lang="en-US" sz="2800" b="1" dirty="0">
                <a:highlight>
                  <a:srgbClr val="FFFF00"/>
                </a:highlight>
              </a:rPr>
              <a:t> </a:t>
            </a:r>
            <a:r>
              <a:rPr lang="en-US" sz="2400" b="1" dirty="0">
                <a:highlight>
                  <a:srgbClr val="FFFF00"/>
                </a:highlight>
              </a:rPr>
              <a:t>]</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4" y="843903"/>
            <a:ext cx="9581177" cy="523220"/>
          </a:xfrm>
          <a:prstGeom prst="rect">
            <a:avLst/>
          </a:prstGeom>
          <a:noFill/>
        </p:spPr>
        <p:txBody>
          <a:bodyPr wrap="square" rtlCol="0">
            <a:spAutoFit/>
          </a:bodyPr>
          <a:lstStyle/>
          <a:p>
            <a:r>
              <a:rPr lang="en-US" sz="2800" b="1" dirty="0"/>
              <a:t>Project Tile – </a:t>
            </a:r>
            <a:r>
              <a:rPr lang="en-US" sz="2800" b="1" dirty="0">
                <a:highlight>
                  <a:srgbClr val="FFFF00"/>
                </a:highlight>
              </a:rPr>
              <a:t>[</a:t>
            </a:r>
            <a:r>
              <a:rPr lang="en-IN" sz="2800" b="1" dirty="0">
                <a:highlight>
                  <a:srgbClr val="FFFF00"/>
                </a:highlight>
              </a:rPr>
              <a:t>Smart Travel Planner Agent</a:t>
            </a:r>
            <a:r>
              <a:rPr lang="en-US" sz="2800" b="1" dirty="0">
                <a:highlight>
                  <a:srgbClr val="FFFF00"/>
                </a:highlight>
              </a:rPr>
              <a:t>]</a:t>
            </a:r>
            <a:endParaRPr lang="en-IN" sz="2800" b="1" dirty="0">
              <a:highlight>
                <a:srgbClr val="FFFF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013762"/>
            <a:ext cx="10607040" cy="5386090"/>
          </a:xfrm>
          <a:prstGeom prst="rect">
            <a:avLst/>
          </a:prstGeom>
          <a:noFill/>
        </p:spPr>
        <p:txBody>
          <a:bodyPr wrap="square" rtlCol="0">
            <a:spAutoFit/>
          </a:bodyPr>
          <a:lstStyle/>
          <a:p>
            <a:r>
              <a:rPr lang="en-US" sz="2000" dirty="0">
                <a:solidFill>
                  <a:schemeClr val="tx1"/>
                </a:solidFill>
              </a:rPr>
              <a:t>The Challenge</a:t>
            </a:r>
          </a:p>
          <a:p>
            <a:endParaRPr lang="en-US" sz="700" dirty="0">
              <a:solidFill>
                <a:schemeClr val="tx1"/>
              </a:solidFill>
            </a:endParaRPr>
          </a:p>
          <a:p>
            <a:r>
              <a:rPr lang="en-US" sz="1600" dirty="0"/>
              <a:t>Travel planning often requires users to visit multiple websites for destination research, weather forecasting, budgeting, accommodation, transportation, and itinerary preparation. This process is time-consuming and lacks personalization.</a:t>
            </a:r>
          </a:p>
          <a:p>
            <a:endParaRPr lang="en-US" sz="1600" dirty="0"/>
          </a:p>
          <a:p>
            <a:r>
              <a:rPr lang="en-US" sz="1600" dirty="0"/>
              <a:t>Users face challenges such as:</a:t>
            </a:r>
          </a:p>
          <a:p>
            <a:pPr marL="285750" indent="-285750">
              <a:buFont typeface="Arial" panose="020B0604020202020204" pitchFamily="34" charset="0"/>
              <a:buChar char="•"/>
            </a:pPr>
            <a:r>
              <a:rPr lang="en-US" sz="1600" dirty="0"/>
              <a:t>Information overload</a:t>
            </a:r>
          </a:p>
          <a:p>
            <a:pPr marL="285750" indent="-285750">
              <a:buFont typeface="Arial" panose="020B0604020202020204" pitchFamily="34" charset="0"/>
              <a:buChar char="•"/>
            </a:pPr>
            <a:r>
              <a:rPr lang="en-US" sz="1600" dirty="0"/>
              <a:t>Budget uncertainty</a:t>
            </a:r>
          </a:p>
          <a:p>
            <a:pPr marL="285750" indent="-285750">
              <a:buFont typeface="Arial" panose="020B0604020202020204" pitchFamily="34" charset="0"/>
              <a:buChar char="•"/>
            </a:pPr>
            <a:r>
              <a:rPr lang="en-US" sz="1600" dirty="0"/>
              <a:t>Lack of personalized recommendations</a:t>
            </a:r>
          </a:p>
          <a:p>
            <a:pPr marL="285750" indent="-285750">
              <a:buFont typeface="Arial" panose="020B0604020202020204" pitchFamily="34" charset="0"/>
              <a:buChar char="•"/>
            </a:pPr>
            <a:r>
              <a:rPr lang="en-US" sz="1600" dirty="0"/>
              <a:t>Difficulty planning day-wise itineraries</a:t>
            </a:r>
          </a:p>
          <a:p>
            <a:pPr marL="285750" indent="-285750">
              <a:buFont typeface="Arial" panose="020B0604020202020204" pitchFamily="34" charset="0"/>
              <a:buChar char="•"/>
            </a:pPr>
            <a:r>
              <a:rPr lang="en-US" sz="1600" dirty="0"/>
              <a:t>Limited access to reliable destination knowledge</a:t>
            </a:r>
          </a:p>
          <a:p>
            <a:endParaRPr lang="en-US" sz="1600" dirty="0"/>
          </a:p>
          <a:p>
            <a:r>
              <a:rPr lang="en-US" sz="2000" dirty="0">
                <a:solidFill>
                  <a:schemeClr val="tx1"/>
                </a:solidFill>
              </a:rPr>
              <a:t>Objective</a:t>
            </a:r>
          </a:p>
          <a:p>
            <a:endParaRPr lang="en-US" sz="900" dirty="0">
              <a:solidFill>
                <a:schemeClr val="tx1"/>
              </a:solidFill>
            </a:endParaRPr>
          </a:p>
          <a:p>
            <a:r>
              <a:rPr lang="en-US" sz="1600" dirty="0"/>
              <a:t>Build an AI-powered Smart Travel Planner Agent capable of:</a:t>
            </a:r>
          </a:p>
          <a:p>
            <a:pPr marL="285750" indent="-285750">
              <a:buFont typeface="Arial" panose="020B0604020202020204" pitchFamily="34" charset="0"/>
              <a:buChar char="•"/>
            </a:pPr>
            <a:r>
              <a:rPr lang="en-US" sz="1600" dirty="0"/>
              <a:t>Recommending destinations based on user preferences</a:t>
            </a:r>
          </a:p>
          <a:p>
            <a:pPr marL="285750" indent="-285750">
              <a:buFont typeface="Arial" panose="020B0604020202020204" pitchFamily="34" charset="0"/>
              <a:buChar char="•"/>
            </a:pPr>
            <a:r>
              <a:rPr lang="en-US" sz="1600" dirty="0"/>
              <a:t>Providing weather intelligence</a:t>
            </a:r>
          </a:p>
          <a:p>
            <a:pPr marL="285750" indent="-285750">
              <a:buFont typeface="Arial" panose="020B0604020202020204" pitchFamily="34" charset="0"/>
              <a:buChar char="•"/>
            </a:pPr>
            <a:r>
              <a:rPr lang="en-US" sz="1600" dirty="0"/>
              <a:t>Predicting trip costs using Machine Learning</a:t>
            </a:r>
          </a:p>
          <a:p>
            <a:pPr marL="285750" indent="-285750">
              <a:buFont typeface="Arial" panose="020B0604020202020204" pitchFamily="34" charset="0"/>
              <a:buChar char="•"/>
            </a:pPr>
            <a:r>
              <a:rPr lang="en-US" sz="1600" dirty="0"/>
              <a:t>Retrieving destination knowledge using RAG</a:t>
            </a:r>
          </a:p>
          <a:p>
            <a:pPr marL="285750" indent="-285750">
              <a:buFont typeface="Arial" panose="020B0604020202020204" pitchFamily="34" charset="0"/>
              <a:buChar char="•"/>
            </a:pPr>
            <a:r>
              <a:rPr lang="en-US" sz="1600" dirty="0"/>
              <a:t>Generating personalized travel itineraries</a:t>
            </a:r>
          </a:p>
          <a:p>
            <a:pPr marL="285750" indent="-285750">
              <a:buFont typeface="Arial" panose="020B0604020202020204" pitchFamily="34" charset="0"/>
              <a:buChar char="•"/>
            </a:pPr>
            <a:r>
              <a:rPr lang="en-US" sz="1600" dirty="0"/>
              <a:t>Delivering a seamless travel planning experience</a:t>
            </a:r>
            <a:endParaRPr lang="en-IN" sz="1600"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537840"/>
            <a:ext cx="7214616" cy="461665"/>
          </a:xfrm>
          <a:prstGeom prst="rect">
            <a:avLst/>
          </a:prstGeom>
          <a:noFill/>
        </p:spPr>
        <p:txBody>
          <a:bodyPr wrap="square" rtlCol="0">
            <a:spAutoFit/>
          </a:bodyPr>
          <a:lstStyle/>
          <a:p>
            <a:r>
              <a:rPr lang="en-US" sz="2400" b="1" dirty="0"/>
              <a:t>Problem Statement - </a:t>
            </a:r>
            <a:r>
              <a:rPr lang="en-US" sz="2400" dirty="0"/>
              <a:t> Travel Planner Agent</a:t>
            </a:r>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1004969" y="1371599"/>
            <a:ext cx="4209288" cy="4524315"/>
          </a:xfrm>
          <a:prstGeom prst="rect">
            <a:avLst/>
          </a:prstGeom>
          <a:noFill/>
        </p:spPr>
        <p:txBody>
          <a:bodyPr wrap="square" rtlCol="0">
            <a:spAutoFit/>
          </a:bodyPr>
          <a:lstStyle/>
          <a:p>
            <a:r>
              <a:rPr lang="en-IN" sz="1600" b="1" dirty="0"/>
              <a:t>Frontend</a:t>
            </a:r>
          </a:p>
          <a:p>
            <a:r>
              <a:rPr lang="en-IN" sz="1600" dirty="0"/>
              <a:t>HTML5</a:t>
            </a:r>
          </a:p>
          <a:p>
            <a:r>
              <a:rPr lang="en-IN" sz="1600" dirty="0"/>
              <a:t>CSS3</a:t>
            </a:r>
          </a:p>
          <a:p>
            <a:r>
              <a:rPr lang="en-IN" sz="1600" dirty="0"/>
              <a:t>JavaScript</a:t>
            </a:r>
          </a:p>
          <a:p>
            <a:endParaRPr lang="en-IN" sz="1600" dirty="0"/>
          </a:p>
          <a:p>
            <a:r>
              <a:rPr lang="en-IN" sz="1600" b="1" dirty="0"/>
              <a:t>AI &amp; Agentic AI</a:t>
            </a:r>
          </a:p>
          <a:p>
            <a:r>
              <a:rPr lang="en-IN" sz="1600" dirty="0"/>
              <a:t>IBM watsonx.ai</a:t>
            </a:r>
          </a:p>
          <a:p>
            <a:r>
              <a:rPr lang="en-IN" sz="1600" dirty="0"/>
              <a:t>Llama 3.3 70B Instruct</a:t>
            </a:r>
          </a:p>
          <a:p>
            <a:r>
              <a:rPr lang="en-IN" sz="1600" dirty="0" err="1"/>
              <a:t>LangFlow</a:t>
            </a:r>
            <a:endParaRPr lang="en-IN" sz="1600" dirty="0"/>
          </a:p>
          <a:p>
            <a:endParaRPr lang="en-IN" sz="1600" dirty="0"/>
          </a:p>
          <a:p>
            <a:endParaRPr lang="en-IN" sz="1600" dirty="0"/>
          </a:p>
          <a:p>
            <a:r>
              <a:rPr lang="en-IN" sz="1600" b="1" dirty="0"/>
              <a:t>RAG</a:t>
            </a:r>
          </a:p>
          <a:p>
            <a:r>
              <a:rPr lang="en-IN" sz="1600" dirty="0" err="1"/>
              <a:t>ChromaDB</a:t>
            </a:r>
            <a:endParaRPr lang="en-IN" sz="1600" dirty="0"/>
          </a:p>
          <a:p>
            <a:r>
              <a:rPr lang="en-IN" sz="1600" dirty="0"/>
              <a:t>Sentence Transformers</a:t>
            </a:r>
          </a:p>
          <a:p>
            <a:endParaRPr lang="en-IN" sz="1600" dirty="0"/>
          </a:p>
          <a:p>
            <a:r>
              <a:rPr lang="en-IN" sz="1600" b="1" dirty="0"/>
              <a:t>Deployment</a:t>
            </a:r>
          </a:p>
          <a:p>
            <a:r>
              <a:rPr lang="en-IN" sz="1600" dirty="0"/>
              <a:t>Render Cloud Platform</a:t>
            </a:r>
          </a:p>
          <a:p>
            <a:endParaRPr lang="en-IN" sz="1600"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32529" y="562955"/>
            <a:ext cx="7214616" cy="461665"/>
          </a:xfrm>
          <a:prstGeom prst="rect">
            <a:avLst/>
          </a:prstGeom>
          <a:noFill/>
        </p:spPr>
        <p:txBody>
          <a:bodyPr wrap="square" rtlCol="0">
            <a:spAutoFit/>
          </a:bodyPr>
          <a:lstStyle/>
          <a:p>
            <a:r>
              <a:rPr lang="en-US" sz="2400" b="1" dirty="0"/>
              <a:t>Technology Used </a:t>
            </a:r>
            <a:endParaRPr lang="en-IN" sz="2400" b="1" dirty="0"/>
          </a:p>
        </p:txBody>
      </p:sp>
      <p:sp>
        <p:nvSpPr>
          <p:cNvPr id="4" name="TextBox 3">
            <a:extLst>
              <a:ext uri="{FF2B5EF4-FFF2-40B4-BE49-F238E27FC236}">
                <a16:creationId xmlns:a16="http://schemas.microsoft.com/office/drawing/2014/main" id="{6B188E74-539D-4CEF-8487-5C82BEAA1718}"/>
              </a:ext>
            </a:extLst>
          </p:cNvPr>
          <p:cNvSpPr txBox="1"/>
          <p:nvPr/>
        </p:nvSpPr>
        <p:spPr>
          <a:xfrm>
            <a:off x="5424569" y="1318154"/>
            <a:ext cx="3643231" cy="3293209"/>
          </a:xfrm>
          <a:prstGeom prst="rect">
            <a:avLst/>
          </a:prstGeom>
          <a:noFill/>
        </p:spPr>
        <p:txBody>
          <a:bodyPr wrap="square" rtlCol="0">
            <a:spAutoFit/>
          </a:bodyPr>
          <a:lstStyle/>
          <a:p>
            <a:r>
              <a:rPr lang="en-IN" sz="1600" b="1" dirty="0"/>
              <a:t>Backend</a:t>
            </a:r>
          </a:p>
          <a:p>
            <a:r>
              <a:rPr lang="en-IN" sz="1600" dirty="0"/>
              <a:t>Flask</a:t>
            </a:r>
          </a:p>
          <a:p>
            <a:r>
              <a:rPr lang="en-IN" sz="1600" dirty="0"/>
              <a:t>REST APIs</a:t>
            </a:r>
          </a:p>
          <a:p>
            <a:endParaRPr lang="en-IN" sz="1600" dirty="0"/>
          </a:p>
          <a:p>
            <a:endParaRPr lang="en-IN" sz="1600" dirty="0"/>
          </a:p>
          <a:p>
            <a:r>
              <a:rPr lang="en-IN" sz="1600" b="1" dirty="0"/>
              <a:t>Machine Learning</a:t>
            </a:r>
          </a:p>
          <a:p>
            <a:r>
              <a:rPr lang="en-IN" sz="1600" dirty="0"/>
              <a:t>Random Forest Regressor</a:t>
            </a:r>
          </a:p>
          <a:p>
            <a:endParaRPr lang="en-IN" sz="1600" dirty="0"/>
          </a:p>
          <a:p>
            <a:endParaRPr lang="en-IN" sz="1600" dirty="0"/>
          </a:p>
          <a:p>
            <a:r>
              <a:rPr lang="en-IN" sz="1600" b="1" dirty="0"/>
              <a:t>External APIs</a:t>
            </a:r>
          </a:p>
          <a:p>
            <a:r>
              <a:rPr lang="en-IN" sz="1600" dirty="0" err="1"/>
              <a:t>OpenWeather</a:t>
            </a:r>
            <a:r>
              <a:rPr lang="en-IN" sz="1600" dirty="0"/>
              <a:t> API</a:t>
            </a:r>
          </a:p>
          <a:p>
            <a:endParaRPr lang="en-IN" sz="1600" dirty="0"/>
          </a:p>
          <a:p>
            <a:endParaRPr lang="en-IN" sz="1600" dirty="0"/>
          </a:p>
        </p:txBody>
      </p:sp>
      <p:pic>
        <p:nvPicPr>
          <p:cNvPr id="2050" name="Picture 2" descr="Web Development Basics: An Introduction to HTML, CSS, and JavaScript | by  Khloe K | Medium">
            <a:extLst>
              <a:ext uri="{FF2B5EF4-FFF2-40B4-BE49-F238E27FC236}">
                <a16:creationId xmlns:a16="http://schemas.microsoft.com/office/drawing/2014/main" id="{6E309EDA-F2E3-467A-BBC0-F8A32AE2D9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1657" y="1245436"/>
            <a:ext cx="1187525" cy="118752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Agentic AI Services | Autonomous AI Solutions for Smarter ...">
            <a:extLst>
              <a:ext uri="{FF2B5EF4-FFF2-40B4-BE49-F238E27FC236}">
                <a16:creationId xmlns:a16="http://schemas.microsoft.com/office/drawing/2014/main" id="{D157A294-9630-4890-BE11-A63AC67C3C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2800" y="2459878"/>
            <a:ext cx="1481210" cy="1055233"/>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Rag Icon Retrieval-augmented Generation Ai Framework Stock Vector (Royalty  Free) 2728887425 | Shutterstock">
            <a:extLst>
              <a:ext uri="{FF2B5EF4-FFF2-40B4-BE49-F238E27FC236}">
                <a16:creationId xmlns:a16="http://schemas.microsoft.com/office/drawing/2014/main" id="{88A98E7B-E202-4ECE-B1B8-31C5FE27565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9183"/>
          <a:stretch/>
        </p:blipFill>
        <p:spPr bwMode="auto">
          <a:xfrm>
            <a:off x="3701235" y="3951514"/>
            <a:ext cx="890427" cy="870857"/>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Flask SVG and transparent PNG icons | TechIcons">
            <a:extLst>
              <a:ext uri="{FF2B5EF4-FFF2-40B4-BE49-F238E27FC236}">
                <a16:creationId xmlns:a16="http://schemas.microsoft.com/office/drawing/2014/main" id="{0DF453FC-A798-4696-819B-815C9896FFD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05870" y="1318154"/>
            <a:ext cx="810306" cy="810306"/>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Machine Learning Logo Vector Art, Icons, and Graphics for ...">
            <a:extLst>
              <a:ext uri="{FF2B5EF4-FFF2-40B4-BE49-F238E27FC236}">
                <a16:creationId xmlns:a16="http://schemas.microsoft.com/office/drawing/2014/main" id="{82B24419-270E-4B1E-9240-136A444C59CA}"/>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b="31061"/>
          <a:stretch/>
        </p:blipFill>
        <p:spPr bwMode="auto">
          <a:xfrm>
            <a:off x="8013026" y="2345873"/>
            <a:ext cx="1206909" cy="832028"/>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Render Recognized in the 2024 Gartner® Magic Quadrant™ for ...">
            <a:extLst>
              <a:ext uri="{FF2B5EF4-FFF2-40B4-BE49-F238E27FC236}">
                <a16:creationId xmlns:a16="http://schemas.microsoft.com/office/drawing/2014/main" id="{5DAC027D-CEB2-4494-9600-6A79BCF346A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23582" y="5058026"/>
            <a:ext cx="1408119" cy="704060"/>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descr="Google Maps Platform Documentation | Weather API | Google for Developers">
            <a:extLst>
              <a:ext uri="{FF2B5EF4-FFF2-40B4-BE49-F238E27FC236}">
                <a16:creationId xmlns:a16="http://schemas.microsoft.com/office/drawing/2014/main" id="{07E0AAEF-F5B8-48F6-8BDE-BD656E78043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262765" y="3429000"/>
            <a:ext cx="1073507" cy="6843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078313"/>
          </a:xfrm>
          <a:prstGeom prst="rect">
            <a:avLst/>
          </a:prstGeom>
          <a:noFill/>
        </p:spPr>
        <p:txBody>
          <a:bodyPr wrap="square" rtlCol="0">
            <a:spAutoFit/>
          </a:bodyPr>
          <a:lstStyle/>
          <a:p>
            <a:r>
              <a:rPr lang="en-US" sz="1800" dirty="0"/>
              <a:t>The Smart Travel Planner Agent is an intelligent travel assistant that combines Agentic AI, Retrieval-Augmented Generation (RAG), Machine Learning, and real-time weather intelligence to generate personalized travel plans.</a:t>
            </a:r>
          </a:p>
          <a:p>
            <a:endParaRPr lang="en-US" sz="1800" dirty="0"/>
          </a:p>
          <a:p>
            <a:r>
              <a:rPr lang="en-US" sz="1800" dirty="0"/>
              <a:t>The system analyzes traveler preferences, budget, destination interests, and trip duration to provide intelligent travel recommendations.</a:t>
            </a:r>
          </a:p>
          <a:p>
            <a:endParaRPr lang="en-US" sz="1800" dirty="0"/>
          </a:p>
          <a:p>
            <a:r>
              <a:rPr lang="en-US" sz="1800" b="1" dirty="0"/>
              <a:t>Key Features</a:t>
            </a:r>
          </a:p>
          <a:p>
            <a:r>
              <a:rPr lang="en-US" sz="1800" dirty="0"/>
              <a:t>Destination Recommendation</a:t>
            </a:r>
          </a:p>
          <a:p>
            <a:r>
              <a:rPr lang="en-US" sz="1800" dirty="0"/>
              <a:t>Weather Forecast Analysis</a:t>
            </a:r>
          </a:p>
          <a:p>
            <a:r>
              <a:rPr lang="en-US" sz="1800" dirty="0"/>
              <a:t>Trip Cost Prediction</a:t>
            </a:r>
          </a:p>
          <a:p>
            <a:r>
              <a:rPr lang="en-US" sz="1800" dirty="0"/>
              <a:t>Travel Knowledge Retrieval</a:t>
            </a:r>
          </a:p>
          <a:p>
            <a:r>
              <a:rPr lang="en-US" sz="1800" dirty="0"/>
              <a:t>Personalized Itinerary Generation</a:t>
            </a:r>
          </a:p>
          <a:p>
            <a:r>
              <a:rPr lang="en-US" sz="1800" dirty="0"/>
              <a:t>Interactive User Dashboard</a:t>
            </a:r>
          </a:p>
          <a:p>
            <a:endParaRPr lang="en-US" sz="1800" dirty="0"/>
          </a:p>
          <a:p>
            <a:r>
              <a:rPr lang="en-US" sz="1800" dirty="0"/>
              <a:t>The solution leverages IBM watsonx.ai and </a:t>
            </a:r>
            <a:r>
              <a:rPr lang="en-US" sz="1800" dirty="0" err="1"/>
              <a:t>LangFlow</a:t>
            </a:r>
            <a:r>
              <a:rPr lang="en-US" sz="1800" dirty="0"/>
              <a:t> to orchestrate multiple specialized AI agents that collaborate to create an end-to-end travel planning experience.</a:t>
            </a:r>
          </a:p>
          <a:p>
            <a:endParaRPr lang="en-IN" sz="1800"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724644"/>
          </a:xfrm>
          <a:prstGeom prst="rect">
            <a:avLst/>
          </a:prstGeom>
          <a:noFill/>
        </p:spPr>
        <p:txBody>
          <a:bodyPr wrap="square" rtlCol="0">
            <a:spAutoFit/>
          </a:bodyPr>
          <a:lstStyle/>
          <a:p>
            <a:r>
              <a:rPr lang="en-IN" sz="1600" b="1" dirty="0"/>
              <a:t>1. Chat Input</a:t>
            </a:r>
          </a:p>
          <a:p>
            <a:r>
              <a:rPr lang="en-IN" sz="1600" dirty="0"/>
              <a:t>Receives </a:t>
            </a:r>
            <a:r>
              <a:rPr lang="en-IN" sz="1600" dirty="0" err="1"/>
              <a:t>traveler</a:t>
            </a:r>
            <a:r>
              <a:rPr lang="en-IN" sz="1600" dirty="0"/>
              <a:t> preferences and trip requirements.</a:t>
            </a:r>
          </a:p>
          <a:p>
            <a:endParaRPr lang="en-IN" sz="1600" dirty="0"/>
          </a:p>
          <a:p>
            <a:r>
              <a:rPr lang="en-IN" sz="1600" b="1" dirty="0"/>
              <a:t>2. Input Parser Agent</a:t>
            </a:r>
          </a:p>
          <a:p>
            <a:r>
              <a:rPr lang="en-IN" sz="1600" dirty="0"/>
              <a:t>Processes and understands user travel requirements.</a:t>
            </a:r>
          </a:p>
          <a:p>
            <a:endParaRPr lang="en-IN" sz="1600" b="1" dirty="0"/>
          </a:p>
          <a:p>
            <a:r>
              <a:rPr lang="en-IN" sz="1600" b="1" dirty="0"/>
              <a:t>3. Destination Recommendation Agent</a:t>
            </a:r>
          </a:p>
          <a:p>
            <a:r>
              <a:rPr lang="en-IN" sz="1600" dirty="0" err="1"/>
              <a:t>Analyzes</a:t>
            </a:r>
            <a:r>
              <a:rPr lang="en-IN" sz="1600" dirty="0"/>
              <a:t> user preferences and recommends suitable destinations.</a:t>
            </a:r>
          </a:p>
          <a:p>
            <a:endParaRPr lang="en-IN" sz="1600" b="1" dirty="0"/>
          </a:p>
          <a:p>
            <a:r>
              <a:rPr lang="en-IN" sz="1600" b="1" dirty="0"/>
              <a:t>4. Weather Intelligence Agent</a:t>
            </a:r>
          </a:p>
          <a:p>
            <a:r>
              <a:rPr lang="en-IN" sz="1600" dirty="0"/>
              <a:t>Fetches and </a:t>
            </a:r>
            <a:r>
              <a:rPr lang="en-IN" sz="1600" dirty="0" err="1"/>
              <a:t>analyzes</a:t>
            </a:r>
            <a:r>
              <a:rPr lang="en-IN" sz="1600" dirty="0"/>
              <a:t> weather conditions using </a:t>
            </a:r>
            <a:r>
              <a:rPr lang="en-IN" sz="1600" dirty="0" err="1"/>
              <a:t>OpenWeather</a:t>
            </a:r>
            <a:r>
              <a:rPr lang="en-IN" sz="1600" dirty="0"/>
              <a:t> API.</a:t>
            </a:r>
          </a:p>
          <a:p>
            <a:endParaRPr lang="en-IN" sz="1600" b="1" dirty="0"/>
          </a:p>
          <a:p>
            <a:r>
              <a:rPr lang="en-IN" sz="1600" b="1" dirty="0"/>
              <a:t>5. Cost Prediction Agent</a:t>
            </a:r>
          </a:p>
          <a:p>
            <a:r>
              <a:rPr lang="en-IN" sz="1600" dirty="0"/>
              <a:t>Uses Machine Learning (Random Forest) to estimate travel expenses.</a:t>
            </a:r>
          </a:p>
          <a:p>
            <a:endParaRPr lang="en-IN" sz="1600" b="1" dirty="0"/>
          </a:p>
          <a:p>
            <a:r>
              <a:rPr lang="en-IN" sz="1600" b="1" dirty="0"/>
              <a:t>6. Travel Knowledge Agent (RAG)</a:t>
            </a:r>
          </a:p>
          <a:p>
            <a:r>
              <a:rPr lang="en-IN" sz="1600" dirty="0"/>
              <a:t>Retrieves destination information using </a:t>
            </a:r>
            <a:r>
              <a:rPr lang="en-IN" sz="1600" dirty="0" err="1"/>
              <a:t>ChromaDB</a:t>
            </a:r>
            <a:r>
              <a:rPr lang="en-IN" sz="1600" dirty="0"/>
              <a:t>.</a:t>
            </a:r>
          </a:p>
          <a:p>
            <a:endParaRPr lang="en-IN" sz="1600" b="1" dirty="0"/>
          </a:p>
          <a:p>
            <a:r>
              <a:rPr lang="en-IN" sz="1600" b="1" dirty="0"/>
              <a:t>7. Travel Concierge Agent</a:t>
            </a:r>
          </a:p>
          <a:p>
            <a:r>
              <a:rPr lang="en-IN" sz="1600" dirty="0"/>
              <a:t>Generates personalized travel itineraries using IBM watsonx.ai.</a:t>
            </a:r>
          </a:p>
          <a:p>
            <a:endParaRPr lang="en-IN" sz="1600" b="1" dirty="0"/>
          </a:p>
          <a:p>
            <a:r>
              <a:rPr lang="en-IN" sz="1600" b="1" dirty="0"/>
              <a:t>8. Chat Output</a:t>
            </a:r>
          </a:p>
          <a:p>
            <a:r>
              <a:rPr lang="en-IN" sz="1600" dirty="0"/>
              <a:t>Displays the final travel plan.</a:t>
            </a:r>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1BF3590-52D3-DC9D-2C84-E66D9597D77D}"/>
              </a:ext>
            </a:extLst>
          </p:cNvPr>
          <p:cNvPicPr>
            <a:picLocks noChangeAspect="1"/>
          </p:cNvPicPr>
          <p:nvPr/>
        </p:nvPicPr>
        <p:blipFill>
          <a:blip r:embed="rId3"/>
          <a:stretch>
            <a:fillRect/>
          </a:stretch>
        </p:blipFill>
        <p:spPr>
          <a:xfrm>
            <a:off x="706048" y="989869"/>
            <a:ext cx="10463924" cy="5544892"/>
          </a:xfrm>
          <a:prstGeom prst="rect">
            <a:avLst/>
          </a:prstGeom>
        </p:spPr>
      </p:pic>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8" name="Google Shape;178;p7"/>
          <p:cNvPicPr preferRelativeResize="0"/>
          <p:nvPr/>
        </p:nvPicPr>
        <p:blipFill>
          <a:blip r:embed="rId3"/>
          <a:stretch>
            <a:fillRect/>
          </a:stretch>
        </p:blipFill>
        <p:spPr>
          <a:xfrm>
            <a:off x="1704087" y="921945"/>
            <a:ext cx="8419224" cy="5612816"/>
          </a:xfrm>
          <a:prstGeom prst="rect">
            <a:avLst/>
          </a:prstGeom>
          <a:noFill/>
          <a:ln>
            <a:noFill/>
          </a:ln>
        </p:spPr>
      </p:pic>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285552" y="1278330"/>
            <a:ext cx="3749430" cy="5362211"/>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18811"/>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885120"/>
            <a:ext cx="7406640" cy="5755422"/>
          </a:xfrm>
          <a:prstGeom prst="rect">
            <a:avLst/>
          </a:prstGeom>
          <a:noFill/>
        </p:spPr>
        <p:txBody>
          <a:bodyPr wrap="square" rtlCol="0">
            <a:spAutoFit/>
          </a:bodyPr>
          <a:lstStyle/>
          <a:p>
            <a:r>
              <a:rPr lang="en-US" sz="1600" dirty="0"/>
              <a:t>Agentic AI enables multiple specialized AI agents to work collaboratively instead of relying on a single AI model.</a:t>
            </a:r>
          </a:p>
          <a:p>
            <a:endParaRPr lang="en-US" sz="1600" dirty="0"/>
          </a:p>
          <a:p>
            <a:r>
              <a:rPr lang="en-US" sz="1600" b="1" dirty="0"/>
              <a:t>Destination Agent</a:t>
            </a:r>
          </a:p>
          <a:p>
            <a:r>
              <a:rPr lang="en-US" dirty="0"/>
              <a:t>Provides destination recommendations.</a:t>
            </a:r>
          </a:p>
          <a:p>
            <a:endParaRPr lang="en-US" sz="1600" dirty="0"/>
          </a:p>
          <a:p>
            <a:r>
              <a:rPr lang="en-US" sz="1600" b="1" dirty="0"/>
              <a:t>Weather Agent</a:t>
            </a:r>
          </a:p>
          <a:p>
            <a:r>
              <a:rPr lang="en-US" dirty="0"/>
              <a:t>Analyzes weather conditions.</a:t>
            </a:r>
          </a:p>
          <a:p>
            <a:endParaRPr lang="en-US" sz="1600" dirty="0"/>
          </a:p>
          <a:p>
            <a:r>
              <a:rPr lang="en-US" sz="1600" b="1" dirty="0"/>
              <a:t>Cost Prediction Agent</a:t>
            </a:r>
          </a:p>
          <a:p>
            <a:r>
              <a:rPr lang="en-US" dirty="0"/>
              <a:t>Estimates travel expenses.</a:t>
            </a:r>
          </a:p>
          <a:p>
            <a:endParaRPr lang="en-US" sz="1600" dirty="0"/>
          </a:p>
          <a:p>
            <a:r>
              <a:rPr lang="en-US" sz="1600" b="1" dirty="0"/>
              <a:t>Travel Knowledge Agent</a:t>
            </a:r>
          </a:p>
          <a:p>
            <a:r>
              <a:rPr lang="en-US" dirty="0"/>
              <a:t>Retrieves contextual travel information.</a:t>
            </a:r>
          </a:p>
          <a:p>
            <a:endParaRPr lang="en-US" sz="1600" dirty="0"/>
          </a:p>
          <a:p>
            <a:r>
              <a:rPr lang="en-US" sz="1600" b="1" dirty="0"/>
              <a:t>Travel Concierge Agent</a:t>
            </a:r>
          </a:p>
          <a:p>
            <a:r>
              <a:rPr lang="en-US" dirty="0"/>
              <a:t>Generates personalized travel itineraries.</a:t>
            </a:r>
          </a:p>
          <a:p>
            <a:endParaRPr lang="en-US" sz="1600" dirty="0"/>
          </a:p>
          <a:p>
            <a:r>
              <a:rPr lang="en-US" sz="1600" dirty="0"/>
              <a:t>Benefits:</a:t>
            </a:r>
          </a:p>
          <a:p>
            <a:pPr marL="285750" indent="-285750">
              <a:buFont typeface="Arial" panose="020B0604020202020204" pitchFamily="34" charset="0"/>
              <a:buChar char="•"/>
            </a:pPr>
            <a:r>
              <a:rPr lang="en-US" dirty="0"/>
              <a:t>Better personalization</a:t>
            </a:r>
          </a:p>
          <a:p>
            <a:pPr marL="285750" indent="-285750">
              <a:buFont typeface="Arial" panose="020B0604020202020204" pitchFamily="34" charset="0"/>
              <a:buChar char="•"/>
            </a:pPr>
            <a:r>
              <a:rPr lang="en-US" dirty="0"/>
              <a:t>Context-aware recommendations</a:t>
            </a:r>
          </a:p>
          <a:p>
            <a:pPr marL="285750" indent="-285750">
              <a:buFont typeface="Arial" panose="020B0604020202020204" pitchFamily="34" charset="0"/>
              <a:buChar char="•"/>
            </a:pPr>
            <a:r>
              <a:rPr lang="en-US" dirty="0"/>
              <a:t>Improved decision-making</a:t>
            </a:r>
          </a:p>
          <a:p>
            <a:pPr marL="285750" indent="-285750">
              <a:buFont typeface="Arial" panose="020B0604020202020204" pitchFamily="34" charset="0"/>
              <a:buChar char="•"/>
            </a:pPr>
            <a:r>
              <a:rPr lang="en-US" dirty="0"/>
              <a:t>Real-time adaptability</a:t>
            </a:r>
          </a:p>
          <a:p>
            <a:pPr marL="285750" indent="-285750">
              <a:buFont typeface="Arial" panose="020B0604020202020204" pitchFamily="34" charset="0"/>
              <a:buChar char="•"/>
            </a:pPr>
            <a:r>
              <a:rPr lang="en-US" dirty="0"/>
              <a:t>Enhanced user experience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620228" y="484632"/>
            <a:ext cx="7123176" cy="584775"/>
          </a:xfrm>
          <a:prstGeom prst="rect">
            <a:avLst/>
          </a:prstGeom>
          <a:noFill/>
        </p:spPr>
        <p:txBody>
          <a:bodyPr wrap="square" rtlCol="0">
            <a:spAutoFit/>
          </a:bodyPr>
          <a:lstStyle/>
          <a:p>
            <a:r>
              <a:rPr lang="en-US" sz="3200" b="1" dirty="0"/>
              <a:t>Technology Used</a:t>
            </a:r>
            <a:endParaRPr lang="en-IN" sz="32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679269" y="1356610"/>
            <a:ext cx="4757057" cy="4708981"/>
          </a:xfrm>
          <a:prstGeom prst="rect">
            <a:avLst/>
          </a:prstGeom>
          <a:noFill/>
        </p:spPr>
        <p:txBody>
          <a:bodyPr wrap="square" rtlCol="0">
            <a:spAutoFit/>
          </a:bodyPr>
          <a:lstStyle/>
          <a:p>
            <a:r>
              <a:rPr lang="en-IN" sz="2000" b="1" dirty="0"/>
              <a:t>IBM watsonx.ai</a:t>
            </a:r>
          </a:p>
          <a:p>
            <a:r>
              <a:rPr lang="en-IN" sz="2000" dirty="0"/>
              <a:t>Used for deploying and accessing foundation models.</a:t>
            </a:r>
          </a:p>
          <a:p>
            <a:endParaRPr lang="en-IN" sz="2000" dirty="0"/>
          </a:p>
          <a:p>
            <a:r>
              <a:rPr lang="en-IN" sz="2000" b="1" dirty="0"/>
              <a:t>Llama 3.3 70B Instruct</a:t>
            </a:r>
          </a:p>
          <a:p>
            <a:r>
              <a:rPr lang="en-IN" sz="2000" dirty="0"/>
              <a:t>Used for itinerary generation, reasoning,</a:t>
            </a:r>
          </a:p>
          <a:p>
            <a:r>
              <a:rPr lang="en-IN" sz="2000" dirty="0"/>
              <a:t>and travel recommendations.</a:t>
            </a:r>
          </a:p>
          <a:p>
            <a:endParaRPr lang="en-IN" sz="2000" dirty="0"/>
          </a:p>
          <a:p>
            <a:r>
              <a:rPr lang="en-IN" sz="2000" b="1" dirty="0" err="1"/>
              <a:t>LangFlow</a:t>
            </a:r>
            <a:endParaRPr lang="en-IN" sz="2000" b="1" dirty="0"/>
          </a:p>
          <a:p>
            <a:r>
              <a:rPr lang="en-IN" sz="2000" dirty="0"/>
              <a:t>Used to design and orchestrate the multi-agent workflow.</a:t>
            </a:r>
          </a:p>
          <a:p>
            <a:endParaRPr lang="en-IN" sz="2000" dirty="0"/>
          </a:p>
          <a:p>
            <a:r>
              <a:rPr lang="en-IN" sz="2000" b="1" dirty="0"/>
              <a:t>IBM Cloud</a:t>
            </a:r>
          </a:p>
          <a:p>
            <a:r>
              <a:rPr lang="en-IN" sz="2000" dirty="0"/>
              <a:t>Provides infrastructure and deployment support.</a:t>
            </a:r>
          </a:p>
        </p:txBody>
      </p:sp>
      <p:sp>
        <p:nvSpPr>
          <p:cNvPr id="7" name="TextBox 6">
            <a:extLst>
              <a:ext uri="{FF2B5EF4-FFF2-40B4-BE49-F238E27FC236}">
                <a16:creationId xmlns:a16="http://schemas.microsoft.com/office/drawing/2014/main" id="{B66A500B-F2D1-409B-8333-826627CA50B9}"/>
              </a:ext>
            </a:extLst>
          </p:cNvPr>
          <p:cNvSpPr txBox="1"/>
          <p:nvPr/>
        </p:nvSpPr>
        <p:spPr>
          <a:xfrm>
            <a:off x="5534297" y="1392066"/>
            <a:ext cx="6831874" cy="4708981"/>
          </a:xfrm>
          <a:prstGeom prst="rect">
            <a:avLst/>
          </a:prstGeom>
          <a:noFill/>
        </p:spPr>
        <p:txBody>
          <a:bodyPr wrap="square" rtlCol="0">
            <a:spAutoFit/>
          </a:bodyPr>
          <a:lstStyle/>
          <a:p>
            <a:r>
              <a:rPr lang="en-IN" sz="2000" b="1" dirty="0"/>
              <a:t>Technology Stack</a:t>
            </a:r>
          </a:p>
          <a:p>
            <a:r>
              <a:rPr lang="en-IN" sz="2000" dirty="0"/>
              <a:t>Flask</a:t>
            </a:r>
          </a:p>
          <a:p>
            <a:r>
              <a:rPr lang="en-IN" sz="2000" dirty="0"/>
              <a:t>Backend API development.</a:t>
            </a:r>
          </a:p>
          <a:p>
            <a:endParaRPr lang="en-IN" sz="2000" dirty="0"/>
          </a:p>
          <a:p>
            <a:r>
              <a:rPr lang="en-IN" sz="2000" b="1" dirty="0" err="1"/>
              <a:t>ChromaDB</a:t>
            </a:r>
            <a:endParaRPr lang="en-IN" sz="2000" b="1" dirty="0"/>
          </a:p>
          <a:p>
            <a:r>
              <a:rPr lang="en-IN" sz="2000" dirty="0"/>
              <a:t>Vector database for Retrieval-Augmented Generation.</a:t>
            </a:r>
          </a:p>
          <a:p>
            <a:endParaRPr lang="en-IN" sz="2000" dirty="0"/>
          </a:p>
          <a:p>
            <a:r>
              <a:rPr lang="en-IN" sz="2000" b="1" dirty="0" err="1"/>
              <a:t>OpenWeather</a:t>
            </a:r>
            <a:r>
              <a:rPr lang="en-IN" sz="2000" b="1" dirty="0"/>
              <a:t> API</a:t>
            </a:r>
          </a:p>
          <a:p>
            <a:r>
              <a:rPr lang="en-IN" sz="2000" dirty="0"/>
              <a:t>Real-time weather forecasting.</a:t>
            </a:r>
          </a:p>
          <a:p>
            <a:endParaRPr lang="en-IN" sz="2000" dirty="0"/>
          </a:p>
          <a:p>
            <a:r>
              <a:rPr lang="en-IN" sz="2000" b="1" dirty="0"/>
              <a:t>Random Forest Machine Learning</a:t>
            </a:r>
          </a:p>
          <a:p>
            <a:r>
              <a:rPr lang="en-IN" sz="2000" dirty="0"/>
              <a:t>Travel cost prediction.</a:t>
            </a:r>
          </a:p>
          <a:p>
            <a:endParaRPr lang="en-IN" sz="2000" dirty="0"/>
          </a:p>
          <a:p>
            <a:r>
              <a:rPr lang="en-IN" sz="2000" b="1" dirty="0"/>
              <a:t>Render</a:t>
            </a:r>
          </a:p>
          <a:p>
            <a:r>
              <a:rPr lang="en-IN" sz="2000" dirty="0"/>
              <a:t>Cloud deployment platform.</a:t>
            </a:r>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087265"/>
            <a:ext cx="11301984" cy="5478423"/>
          </a:xfrm>
          <a:prstGeom prst="rect">
            <a:avLst/>
          </a:prstGeom>
          <a:noFill/>
        </p:spPr>
        <p:txBody>
          <a:bodyPr wrap="square" rtlCol="0">
            <a:spAutoFit/>
          </a:bodyPr>
          <a:lstStyle/>
          <a:p>
            <a:r>
              <a:rPr lang="en-US" b="1" dirty="0"/>
              <a:t>Multi-Agent Architecture</a:t>
            </a:r>
            <a:endParaRPr lang="en-US" dirty="0"/>
          </a:p>
          <a:p>
            <a:r>
              <a:rPr lang="en-US" dirty="0"/>
              <a:t>Instead of relying on a single AI model, the Smart Travel Planner Agent uses multiple specialized AI agents that collaborate to perform different tasks such as destination recommendation, weather analysis, cost prediction, knowledge retrieval, and itinerary generation. This improves efficiency, accuracy, and personalization.</a:t>
            </a:r>
          </a:p>
          <a:p>
            <a:endParaRPr lang="en-US" dirty="0"/>
          </a:p>
          <a:p>
            <a:r>
              <a:rPr lang="en-US" b="1" dirty="0"/>
              <a:t>Machine Learning Integration</a:t>
            </a:r>
          </a:p>
          <a:p>
            <a:r>
              <a:rPr lang="en-US" dirty="0"/>
              <a:t>The solution incorporates a Random Forest Machine Learning model to estimate travel expenses based on destination, trip duration, number of travelers, transport mode, and accommodation preferences. This helps users make better budget decisions before planning their trips.</a:t>
            </a:r>
          </a:p>
          <a:p>
            <a:endParaRPr lang="en-US" dirty="0"/>
          </a:p>
          <a:p>
            <a:r>
              <a:rPr lang="en-US" b="1" dirty="0"/>
              <a:t>Retrieval-Augmented Generation (RAG)</a:t>
            </a:r>
          </a:p>
          <a:p>
            <a:r>
              <a:rPr lang="en-US" dirty="0"/>
              <a:t>The system utilizes </a:t>
            </a:r>
            <a:r>
              <a:rPr lang="en-US" dirty="0" err="1"/>
              <a:t>ChromaDB</a:t>
            </a:r>
            <a:r>
              <a:rPr lang="en-US" dirty="0"/>
              <a:t>-based RAG to retrieve destination-specific information, attractions, travel tips, and local insights from a knowledge base. This ensures more accurate and context-aware responses compared to traditional AI systems.</a:t>
            </a:r>
          </a:p>
          <a:p>
            <a:endParaRPr lang="en-US" b="1" dirty="0"/>
          </a:p>
          <a:p>
            <a:r>
              <a:rPr lang="en-US" b="1" dirty="0"/>
              <a:t>Personalized Travel Planning</a:t>
            </a:r>
          </a:p>
          <a:p>
            <a:r>
              <a:rPr lang="en-US" dirty="0"/>
              <a:t>Travel recommendations and itineraries are generated according to user preferences, budget, duration, and interests, ensuring a customized travel experience for every user.</a:t>
            </a:r>
          </a:p>
          <a:p>
            <a:endParaRPr lang="en-US" dirty="0"/>
          </a:p>
          <a:p>
            <a:r>
              <a:rPr lang="en-US" dirty="0"/>
              <a:t> </a:t>
            </a:r>
            <a:r>
              <a:rPr lang="en-US" b="1" dirty="0"/>
              <a:t>Real-Time Intelligence</a:t>
            </a:r>
          </a:p>
          <a:p>
            <a:r>
              <a:rPr lang="en-US" dirty="0"/>
              <a:t>By integrating </a:t>
            </a:r>
            <a:r>
              <a:rPr lang="en-US" dirty="0" err="1"/>
              <a:t>OpenWeather</a:t>
            </a:r>
            <a:r>
              <a:rPr lang="en-US" dirty="0"/>
              <a:t> API, the system provides weather-aware travel recommendations and activity suggestions, helping users plan trips more effectively.</a:t>
            </a:r>
          </a:p>
          <a:p>
            <a:endParaRPr lang="en-US" dirty="0"/>
          </a:p>
          <a:p>
            <a:r>
              <a:rPr lang="en-US" b="1" dirty="0"/>
              <a:t>Enterprise AI Stack</a:t>
            </a:r>
          </a:p>
          <a:p>
            <a:r>
              <a:rPr lang="en-US" dirty="0"/>
              <a:t>Built using IBM watsonx.ai, </a:t>
            </a:r>
            <a:r>
              <a:rPr lang="en-US" dirty="0" err="1"/>
              <a:t>LangFlow</a:t>
            </a:r>
            <a:r>
              <a:rPr lang="en-US" dirty="0"/>
              <a:t>, </a:t>
            </a:r>
            <a:r>
              <a:rPr lang="en-US" dirty="0" err="1"/>
              <a:t>ChromaDB</a:t>
            </a:r>
            <a:r>
              <a:rPr lang="en-US" dirty="0"/>
              <a:t>, Machine Learning, and modern web technologies, the solution demonstrates a scalable and intelligent travel planning platform capable of solving real-world travel challenges.</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311818" y="56854"/>
            <a:ext cx="8176400" cy="704017"/>
          </a:xfrm>
          <a:prstGeom prst="rect">
            <a:avLst/>
          </a:prstGeom>
          <a:noFill/>
          <a:ln>
            <a:noFill/>
          </a:ln>
        </p:spPr>
        <p:txBody>
          <a:bodyPr spcFirstLastPara="1" wrap="square" lIns="0" tIns="0" rIns="0" bIns="0" anchor="t" anchorCtr="0">
            <a:noAutofit/>
          </a:bodyPr>
          <a:lstStyle/>
          <a:p>
            <a:pPr lvl="0">
              <a:lnSpc>
                <a:spcPct val="157142"/>
              </a:lnSpc>
              <a:buClr>
                <a:srgbClr val="051D3A"/>
              </a:buClr>
              <a:buSzPts val="3500"/>
            </a:pPr>
            <a:r>
              <a:rPr lang="en-IN" sz="2800" b="1" dirty="0"/>
              <a:t>Token Usage &amp; Project Configuration &amp; Storage</a:t>
            </a:r>
            <a:endParaRPr sz="2800" b="1" dirty="0">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49C13486-DB05-4965-BA75-9AE247A7765B}"/>
              </a:ext>
            </a:extLst>
          </p:cNvPr>
          <p:cNvPicPr>
            <a:picLocks noChangeAspect="1"/>
          </p:cNvPicPr>
          <p:nvPr/>
        </p:nvPicPr>
        <p:blipFill>
          <a:blip r:embed="rId3"/>
          <a:stretch>
            <a:fillRect/>
          </a:stretch>
        </p:blipFill>
        <p:spPr>
          <a:xfrm>
            <a:off x="6389345" y="3817592"/>
            <a:ext cx="5458448" cy="2797372"/>
          </a:xfrm>
          <a:prstGeom prst="rect">
            <a:avLst/>
          </a:prstGeom>
        </p:spPr>
      </p:pic>
      <p:pic>
        <p:nvPicPr>
          <p:cNvPr id="11" name="Picture 10">
            <a:extLst>
              <a:ext uri="{FF2B5EF4-FFF2-40B4-BE49-F238E27FC236}">
                <a16:creationId xmlns:a16="http://schemas.microsoft.com/office/drawing/2014/main" id="{C4A6E89E-9AF6-4E4B-88F7-C702E2B6578A}"/>
              </a:ext>
            </a:extLst>
          </p:cNvPr>
          <p:cNvPicPr>
            <a:picLocks noChangeAspect="1"/>
          </p:cNvPicPr>
          <p:nvPr/>
        </p:nvPicPr>
        <p:blipFill>
          <a:blip r:embed="rId4"/>
          <a:stretch>
            <a:fillRect/>
          </a:stretch>
        </p:blipFill>
        <p:spPr>
          <a:xfrm>
            <a:off x="311818" y="757340"/>
            <a:ext cx="5877519" cy="2899078"/>
          </a:xfrm>
          <a:prstGeom prst="rect">
            <a:avLst/>
          </a:prstGeom>
        </p:spPr>
      </p:pic>
      <p:sp>
        <p:nvSpPr>
          <p:cNvPr id="18" name="TextBox 17">
            <a:extLst>
              <a:ext uri="{FF2B5EF4-FFF2-40B4-BE49-F238E27FC236}">
                <a16:creationId xmlns:a16="http://schemas.microsoft.com/office/drawing/2014/main" id="{8B8D6464-74E8-4733-B5BE-8E5DE46E4209}"/>
              </a:ext>
            </a:extLst>
          </p:cNvPr>
          <p:cNvSpPr txBox="1"/>
          <p:nvPr/>
        </p:nvSpPr>
        <p:spPr>
          <a:xfrm>
            <a:off x="344208" y="3768652"/>
            <a:ext cx="5458448" cy="3139321"/>
          </a:xfrm>
          <a:prstGeom prst="rect">
            <a:avLst/>
          </a:prstGeom>
          <a:noFill/>
        </p:spPr>
        <p:txBody>
          <a:bodyPr wrap="square" rtlCol="0">
            <a:spAutoFit/>
          </a:bodyPr>
          <a:lstStyle/>
          <a:p>
            <a:r>
              <a:rPr lang="en-IN" sz="1800" b="1" dirty="0"/>
              <a:t>Foundation Model Resource Usage</a:t>
            </a:r>
            <a:endParaRPr lang="en-IN" sz="1800" dirty="0"/>
          </a:p>
          <a:p>
            <a:pPr marL="285750" indent="-285750">
              <a:buFont typeface="Arial" panose="020B0604020202020204" pitchFamily="34" charset="0"/>
              <a:buChar char="•"/>
            </a:pPr>
            <a:r>
              <a:rPr lang="en-IN" sz="1800" dirty="0"/>
              <a:t>Monitored AI resource utilization through IBM watsonx.ai dashboard. </a:t>
            </a:r>
          </a:p>
          <a:p>
            <a:pPr marL="285750" indent="-285750">
              <a:buFont typeface="Arial" panose="020B0604020202020204" pitchFamily="34" charset="0"/>
              <a:buChar char="•"/>
            </a:pPr>
            <a:r>
              <a:rPr lang="en-IN" sz="1800" dirty="0"/>
              <a:t>Consumed </a:t>
            </a:r>
            <a:r>
              <a:rPr lang="en-IN" sz="1800" b="1" dirty="0"/>
              <a:t>44,523 tokens</a:t>
            </a:r>
            <a:r>
              <a:rPr lang="en-IN" sz="1800" dirty="0"/>
              <a:t> while generating travel recommendations, itineraries, and AI responses. </a:t>
            </a:r>
          </a:p>
          <a:p>
            <a:pPr marL="285750" indent="-285750">
              <a:buFont typeface="Arial" panose="020B0604020202020204" pitchFamily="34" charset="0"/>
              <a:buChar char="•"/>
            </a:pPr>
            <a:r>
              <a:rPr lang="en-IN" sz="1800" dirty="0"/>
              <a:t>Demonstrated successful interaction with the </a:t>
            </a:r>
            <a:r>
              <a:rPr lang="en-IN" sz="1800" b="1" dirty="0"/>
              <a:t>Llama 3.3 70B Instruct</a:t>
            </a:r>
            <a:r>
              <a:rPr lang="en-IN" sz="1800" dirty="0"/>
              <a:t> foundation model. </a:t>
            </a:r>
          </a:p>
          <a:p>
            <a:pPr marL="285750" indent="-285750">
              <a:buFont typeface="Arial" panose="020B0604020202020204" pitchFamily="34" charset="0"/>
              <a:buChar char="•"/>
            </a:pPr>
            <a:r>
              <a:rPr lang="en-IN" sz="1800" dirty="0"/>
              <a:t>Validated efficient token usage and system performance during project execution. </a:t>
            </a:r>
          </a:p>
          <a:p>
            <a:endParaRPr lang="en-IN" sz="1800" dirty="0"/>
          </a:p>
        </p:txBody>
      </p:sp>
      <p:sp>
        <p:nvSpPr>
          <p:cNvPr id="19" name="TextBox 18">
            <a:extLst>
              <a:ext uri="{FF2B5EF4-FFF2-40B4-BE49-F238E27FC236}">
                <a16:creationId xmlns:a16="http://schemas.microsoft.com/office/drawing/2014/main" id="{39F3AD10-8224-409D-BBFA-CDA35D47F1DA}"/>
              </a:ext>
            </a:extLst>
          </p:cNvPr>
          <p:cNvSpPr txBox="1"/>
          <p:nvPr/>
        </p:nvSpPr>
        <p:spPr>
          <a:xfrm>
            <a:off x="6294824" y="1044263"/>
            <a:ext cx="5458448" cy="2554545"/>
          </a:xfrm>
          <a:prstGeom prst="rect">
            <a:avLst/>
          </a:prstGeom>
          <a:noFill/>
        </p:spPr>
        <p:txBody>
          <a:bodyPr wrap="square" rtlCol="0">
            <a:spAutoFit/>
          </a:bodyPr>
          <a:lstStyle/>
          <a:p>
            <a:r>
              <a:rPr lang="en-IN" sz="1600" b="1" dirty="0"/>
              <a:t>IBM watsonx.ai Project Setup</a:t>
            </a:r>
            <a:endParaRPr lang="en-IN" sz="1600" dirty="0"/>
          </a:p>
          <a:p>
            <a:pPr marL="285750" indent="-285750">
              <a:buFont typeface="Arial" panose="020B0604020202020204" pitchFamily="34" charset="0"/>
              <a:buChar char="•"/>
            </a:pPr>
            <a:r>
              <a:rPr lang="en-IN" sz="1600" dirty="0"/>
              <a:t>Successfully created and configured the </a:t>
            </a:r>
            <a:r>
              <a:rPr lang="en-IN" sz="1600" b="1" dirty="0"/>
              <a:t>Smart Travel Planner Agent</a:t>
            </a:r>
            <a:r>
              <a:rPr lang="en-IN" sz="1600" dirty="0"/>
              <a:t> project in IBM watsonx.ai. </a:t>
            </a:r>
          </a:p>
          <a:p>
            <a:pPr marL="285750" indent="-285750">
              <a:buFont typeface="Arial" panose="020B0604020202020204" pitchFamily="34" charset="0"/>
              <a:buChar char="•"/>
            </a:pPr>
            <a:r>
              <a:rPr lang="en-IN" sz="1600" dirty="0"/>
              <a:t>Managed project metadata, storage resources, and cloud environment settings. </a:t>
            </a:r>
          </a:p>
          <a:p>
            <a:pPr marL="285750" indent="-285750">
              <a:buFont typeface="Arial" panose="020B0604020202020204" pitchFamily="34" charset="0"/>
              <a:buChar char="•"/>
            </a:pPr>
            <a:r>
              <a:rPr lang="en-IN" sz="1600" dirty="0"/>
              <a:t>Established the foundation for integrating AI models, </a:t>
            </a:r>
            <a:r>
              <a:rPr lang="en-IN" sz="1600" dirty="0" err="1"/>
              <a:t>LangFlow</a:t>
            </a:r>
            <a:r>
              <a:rPr lang="en-IN" sz="1600" dirty="0"/>
              <a:t> workflows, and travel planning services. </a:t>
            </a:r>
          </a:p>
          <a:p>
            <a:pPr marL="285750" indent="-285750">
              <a:buFont typeface="Arial" panose="020B0604020202020204" pitchFamily="34" charset="0"/>
              <a:buChar char="•"/>
            </a:pPr>
            <a:r>
              <a:rPr lang="en-IN" sz="1600" dirty="0"/>
              <a:t>Ensured proper project configuration for seamless development and deployment. </a:t>
            </a:r>
          </a:p>
          <a:p>
            <a:endParaRPr lang="en-IN" sz="1600" dirty="0"/>
          </a:p>
        </p:txBody>
      </p:sp>
      <p:cxnSp>
        <p:nvCxnSpPr>
          <p:cNvPr id="14" name="Straight Connector 13">
            <a:extLst>
              <a:ext uri="{FF2B5EF4-FFF2-40B4-BE49-F238E27FC236}">
                <a16:creationId xmlns:a16="http://schemas.microsoft.com/office/drawing/2014/main" id="{3B0AEE9F-25ED-4ECB-8844-BD37861DBCB5}"/>
              </a:ext>
            </a:extLst>
          </p:cNvPr>
          <p:cNvCxnSpPr/>
          <p:nvPr/>
        </p:nvCxnSpPr>
        <p:spPr>
          <a:xfrm>
            <a:off x="311819" y="3713023"/>
            <a:ext cx="11445827"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548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483699" y="259829"/>
            <a:ext cx="6444496" cy="704017"/>
          </a:xfrm>
          <a:prstGeom prst="rect">
            <a:avLst/>
          </a:prstGeom>
          <a:noFill/>
          <a:ln>
            <a:noFill/>
          </a:ln>
        </p:spPr>
        <p:txBody>
          <a:bodyPr spcFirstLastPara="1" wrap="square" lIns="0" tIns="0" rIns="0" bIns="0" anchor="t" anchorCtr="0">
            <a:noAutofit/>
          </a:bodyPr>
          <a:lstStyle/>
          <a:p>
            <a:pPr lvl="0">
              <a:lnSpc>
                <a:spcPct val="157142"/>
              </a:lnSpc>
              <a:buClr>
                <a:srgbClr val="051D3A"/>
              </a:buClr>
              <a:buSzPts val="3500"/>
            </a:pPr>
            <a:r>
              <a:rPr lang="en-IN" sz="2800" b="1" dirty="0"/>
              <a:t>Results and Demonstration</a:t>
            </a:r>
            <a:endParaRPr sz="28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640476" y="3090779"/>
            <a:ext cx="3168219" cy="542776"/>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latin typeface="Times New Roman"/>
                <a:ea typeface="Times New Roman"/>
                <a:cs typeface="Times New Roman"/>
                <a:sym typeface="Times New Roman"/>
              </a:rPr>
              <a:t>Home Dashboard</a:t>
            </a:r>
          </a:p>
          <a:p>
            <a:pPr lvl="0">
              <a:lnSpc>
                <a:spcPct val="162162"/>
              </a:lnSpc>
              <a:buClr>
                <a:srgbClr val="2B3541"/>
              </a:buClr>
              <a:buSzPts val="1850"/>
            </a:pPr>
            <a:endParaRPr lang="en-US" sz="1850" dirty="0">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7" name="Google Shape;279;p18">
            <a:extLst>
              <a:ext uri="{FF2B5EF4-FFF2-40B4-BE49-F238E27FC236}">
                <a16:creationId xmlns:a16="http://schemas.microsoft.com/office/drawing/2014/main" id="{FA37868E-5E3B-4F22-8356-3CB05745471D}"/>
              </a:ext>
            </a:extLst>
          </p:cNvPr>
          <p:cNvSpPr/>
          <p:nvPr/>
        </p:nvSpPr>
        <p:spPr>
          <a:xfrm>
            <a:off x="7663220" y="3037504"/>
            <a:ext cx="3168219" cy="587796"/>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latin typeface="Times New Roman"/>
                <a:ea typeface="Times New Roman"/>
                <a:cs typeface="Times New Roman"/>
                <a:sym typeface="Times New Roman"/>
              </a:rPr>
              <a:t>Trip Planning Interface</a:t>
            </a:r>
          </a:p>
        </p:txBody>
      </p:sp>
      <p:sp>
        <p:nvSpPr>
          <p:cNvPr id="8" name="Google Shape;279;p18">
            <a:extLst>
              <a:ext uri="{FF2B5EF4-FFF2-40B4-BE49-F238E27FC236}">
                <a16:creationId xmlns:a16="http://schemas.microsoft.com/office/drawing/2014/main" id="{08ED2B2F-7DA3-4F9B-835D-AC4DE69CE5C7}"/>
              </a:ext>
            </a:extLst>
          </p:cNvPr>
          <p:cNvSpPr/>
          <p:nvPr/>
        </p:nvSpPr>
        <p:spPr>
          <a:xfrm>
            <a:off x="1071290" y="6048621"/>
            <a:ext cx="3168219" cy="57174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latin typeface="Times New Roman"/>
                <a:ea typeface="Times New Roman"/>
                <a:cs typeface="Times New Roman"/>
                <a:sym typeface="Times New Roman"/>
              </a:rPr>
              <a:t>AI-Generated Travel Itinerary</a:t>
            </a:r>
          </a:p>
        </p:txBody>
      </p:sp>
      <p:sp>
        <p:nvSpPr>
          <p:cNvPr id="9" name="Google Shape;279;p18">
            <a:extLst>
              <a:ext uri="{FF2B5EF4-FFF2-40B4-BE49-F238E27FC236}">
                <a16:creationId xmlns:a16="http://schemas.microsoft.com/office/drawing/2014/main" id="{0CE9C79B-0FBB-4CB9-A7C0-4DC81B497B19}"/>
              </a:ext>
            </a:extLst>
          </p:cNvPr>
          <p:cNvSpPr/>
          <p:nvPr/>
        </p:nvSpPr>
        <p:spPr>
          <a:xfrm>
            <a:off x="7630240" y="6032566"/>
            <a:ext cx="3168219" cy="587796"/>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latin typeface="Times New Roman"/>
                <a:ea typeface="Times New Roman"/>
                <a:cs typeface="Times New Roman"/>
                <a:sym typeface="Times New Roman"/>
              </a:rPr>
              <a:t>Real-Time Weather Insights</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DED9C91A-CA26-4FB0-A604-BB0A3AEE04D3}"/>
              </a:ext>
            </a:extLst>
          </p:cNvPr>
          <p:cNvPicPr>
            <a:picLocks noChangeAspect="1"/>
          </p:cNvPicPr>
          <p:nvPr/>
        </p:nvPicPr>
        <p:blipFill>
          <a:blip r:embed="rId3"/>
          <a:stretch>
            <a:fillRect/>
          </a:stretch>
        </p:blipFill>
        <p:spPr>
          <a:xfrm>
            <a:off x="483700" y="1160863"/>
            <a:ext cx="4343400" cy="1958027"/>
          </a:xfrm>
          <a:prstGeom prst="rect">
            <a:avLst/>
          </a:prstGeom>
        </p:spPr>
      </p:pic>
      <p:pic>
        <p:nvPicPr>
          <p:cNvPr id="5" name="Picture 4">
            <a:extLst>
              <a:ext uri="{FF2B5EF4-FFF2-40B4-BE49-F238E27FC236}">
                <a16:creationId xmlns:a16="http://schemas.microsoft.com/office/drawing/2014/main" id="{77355624-D470-4795-B1CC-02C084ED13C5}"/>
              </a:ext>
            </a:extLst>
          </p:cNvPr>
          <p:cNvPicPr>
            <a:picLocks noChangeAspect="1"/>
          </p:cNvPicPr>
          <p:nvPr/>
        </p:nvPicPr>
        <p:blipFill>
          <a:blip r:embed="rId4"/>
          <a:stretch>
            <a:fillRect/>
          </a:stretch>
        </p:blipFill>
        <p:spPr>
          <a:xfrm>
            <a:off x="483699" y="3642033"/>
            <a:ext cx="4362713" cy="2461018"/>
          </a:xfrm>
          <a:prstGeom prst="rect">
            <a:avLst/>
          </a:prstGeom>
        </p:spPr>
      </p:pic>
      <p:pic>
        <p:nvPicPr>
          <p:cNvPr id="10" name="Picture 9">
            <a:extLst>
              <a:ext uri="{FF2B5EF4-FFF2-40B4-BE49-F238E27FC236}">
                <a16:creationId xmlns:a16="http://schemas.microsoft.com/office/drawing/2014/main" id="{38EBC422-27BD-4BEF-BCD2-38AFC8F3F9C3}"/>
              </a:ext>
            </a:extLst>
          </p:cNvPr>
          <p:cNvPicPr>
            <a:picLocks noChangeAspect="1"/>
          </p:cNvPicPr>
          <p:nvPr/>
        </p:nvPicPr>
        <p:blipFill>
          <a:blip r:embed="rId5"/>
          <a:stretch>
            <a:fillRect/>
          </a:stretch>
        </p:blipFill>
        <p:spPr>
          <a:xfrm>
            <a:off x="6607233" y="1017181"/>
            <a:ext cx="4615938" cy="2053721"/>
          </a:xfrm>
          <a:prstGeom prst="rect">
            <a:avLst/>
          </a:prstGeom>
        </p:spPr>
      </p:pic>
      <p:pic>
        <p:nvPicPr>
          <p:cNvPr id="12" name="Picture 11">
            <a:extLst>
              <a:ext uri="{FF2B5EF4-FFF2-40B4-BE49-F238E27FC236}">
                <a16:creationId xmlns:a16="http://schemas.microsoft.com/office/drawing/2014/main" id="{7756FA60-D96E-4E84-863C-6DE7C05A28C0}"/>
              </a:ext>
            </a:extLst>
          </p:cNvPr>
          <p:cNvPicPr>
            <a:picLocks noChangeAspect="1"/>
          </p:cNvPicPr>
          <p:nvPr/>
        </p:nvPicPr>
        <p:blipFill>
          <a:blip r:embed="rId6"/>
          <a:stretch>
            <a:fillRect/>
          </a:stretch>
        </p:blipFill>
        <p:spPr>
          <a:xfrm>
            <a:off x="6607233" y="3630117"/>
            <a:ext cx="4615938" cy="2480484"/>
          </a:xfrm>
          <a:prstGeom prst="rect">
            <a:avLst/>
          </a:prstGeom>
        </p:spPr>
      </p:pic>
    </p:spTree>
    <p:extLst>
      <p:ext uri="{BB962C8B-B14F-4D97-AF65-F5344CB8AC3E}">
        <p14:creationId xmlns:p14="http://schemas.microsoft.com/office/powerpoint/2010/main" val="41761718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848847" y="449695"/>
            <a:ext cx="8208305"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800" b="1" dirty="0">
                <a:sym typeface="Times New Roman"/>
              </a:rPr>
              <a:t> </a:t>
            </a:r>
            <a:r>
              <a:rPr lang="en-IN" sz="2800" b="1" dirty="0" err="1">
                <a:latin typeface="Times New Roman"/>
                <a:ea typeface="Times New Roman"/>
                <a:cs typeface="Times New Roman"/>
                <a:sym typeface="Times New Roman"/>
              </a:rPr>
              <a:t>Github</a:t>
            </a:r>
            <a:r>
              <a:rPr lang="en-IN" sz="2800" b="1" dirty="0">
                <a:latin typeface="Times New Roman"/>
                <a:ea typeface="Times New Roman"/>
                <a:cs typeface="Times New Roman"/>
                <a:sym typeface="Times New Roman"/>
              </a:rPr>
              <a:t> Link , Project Resources &amp; Deployment</a:t>
            </a:r>
          </a:p>
          <a:p>
            <a:pPr marL="0" marR="0" lvl="0" indent="0" algn="l" rtl="0">
              <a:lnSpc>
                <a:spcPct val="157142"/>
              </a:lnSpc>
              <a:spcBef>
                <a:spcPts val="0"/>
              </a:spcBef>
              <a:spcAft>
                <a:spcPts val="0"/>
              </a:spcAft>
              <a:buClr>
                <a:srgbClr val="051D3A"/>
              </a:buClr>
              <a:buSzPts val="3500"/>
              <a:buFont typeface="Times New Roman"/>
              <a:buNone/>
            </a:pPr>
            <a:endParaRPr sz="28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990599" y="1153712"/>
            <a:ext cx="10341429" cy="5094688"/>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IN" sz="2400" dirty="0">
                <a:latin typeface="Times New Roman"/>
                <a:ea typeface="Times New Roman"/>
                <a:cs typeface="Times New Roman"/>
                <a:sym typeface="Times New Roman"/>
              </a:rPr>
              <a:t>🌐 Live Application</a:t>
            </a:r>
          </a:p>
          <a:p>
            <a:pPr lvl="0">
              <a:lnSpc>
                <a:spcPct val="162162"/>
              </a:lnSpc>
              <a:buClr>
                <a:srgbClr val="2B3541"/>
              </a:buClr>
              <a:buSzPts val="1850"/>
            </a:pPr>
            <a:r>
              <a:rPr lang="en-IN" sz="2400" dirty="0">
                <a:latin typeface="Times New Roman"/>
                <a:ea typeface="Times New Roman"/>
                <a:cs typeface="Times New Roman"/>
                <a:sym typeface="Times New Roman"/>
                <a:hlinkClick r:id="rId3"/>
              </a:rPr>
              <a:t>https://smart-travel-planner-agent.onrender.com</a:t>
            </a:r>
            <a:endParaRPr lang="en-IN" sz="2400" dirty="0">
              <a:latin typeface="Times New Roman"/>
              <a:ea typeface="Times New Roman"/>
              <a:cs typeface="Times New Roman"/>
              <a:sym typeface="Times New Roman"/>
            </a:endParaRPr>
          </a:p>
          <a:p>
            <a:pPr lvl="0">
              <a:lnSpc>
                <a:spcPct val="162162"/>
              </a:lnSpc>
              <a:buClr>
                <a:srgbClr val="2B3541"/>
              </a:buClr>
              <a:buSzPts val="1850"/>
            </a:pPr>
            <a:endParaRPr lang="en-IN" sz="1050" dirty="0">
              <a:latin typeface="Times New Roman"/>
              <a:ea typeface="Times New Roman"/>
              <a:cs typeface="Times New Roman"/>
              <a:sym typeface="Times New Roman"/>
            </a:endParaRPr>
          </a:p>
          <a:p>
            <a:pPr lvl="0">
              <a:lnSpc>
                <a:spcPct val="162162"/>
              </a:lnSpc>
              <a:buClr>
                <a:srgbClr val="2B3541"/>
              </a:buClr>
              <a:buSzPts val="1850"/>
            </a:pPr>
            <a:r>
              <a:rPr lang="en-IN" sz="2400" dirty="0">
                <a:latin typeface="Times New Roman"/>
                <a:ea typeface="Times New Roman"/>
                <a:cs typeface="Times New Roman"/>
                <a:sym typeface="Times New Roman"/>
              </a:rPr>
              <a:t>💻 GitHub Repository</a:t>
            </a:r>
          </a:p>
          <a:p>
            <a:pPr lvl="0">
              <a:lnSpc>
                <a:spcPct val="162162"/>
              </a:lnSpc>
              <a:buClr>
                <a:srgbClr val="2B3541"/>
              </a:buClr>
              <a:buSzPts val="1850"/>
            </a:pPr>
            <a:r>
              <a:rPr lang="en-IN" sz="2400" dirty="0">
                <a:latin typeface="Times New Roman"/>
                <a:ea typeface="Times New Roman"/>
                <a:cs typeface="Times New Roman"/>
                <a:sym typeface="Times New Roman"/>
                <a:hlinkClick r:id="rId4"/>
              </a:rPr>
              <a:t>https://github.com/Goldi-Insights/Smart-Travel-Planner-Agent</a:t>
            </a:r>
            <a:endParaRPr lang="en-IN" sz="2400" dirty="0">
              <a:latin typeface="Times New Roman"/>
              <a:ea typeface="Times New Roman"/>
              <a:cs typeface="Times New Roman"/>
              <a:sym typeface="Times New Roman"/>
            </a:endParaRPr>
          </a:p>
          <a:p>
            <a:pPr lvl="0">
              <a:lnSpc>
                <a:spcPct val="162162"/>
              </a:lnSpc>
              <a:buClr>
                <a:srgbClr val="2B3541"/>
              </a:buClr>
              <a:buSzPts val="1850"/>
            </a:pPr>
            <a:endParaRPr lang="en-IN" sz="1200" dirty="0">
              <a:latin typeface="Times New Roman"/>
              <a:ea typeface="Times New Roman"/>
              <a:cs typeface="Times New Roman"/>
              <a:sym typeface="Times New Roman"/>
            </a:endParaRPr>
          </a:p>
          <a:p>
            <a:pPr lvl="0">
              <a:lnSpc>
                <a:spcPct val="162162"/>
              </a:lnSpc>
              <a:buClr>
                <a:srgbClr val="2B3541"/>
              </a:buClr>
              <a:buSzPts val="1850"/>
            </a:pPr>
            <a:r>
              <a:rPr lang="en-IN" sz="2400" dirty="0">
                <a:latin typeface="Times New Roman"/>
                <a:ea typeface="Times New Roman"/>
                <a:cs typeface="Times New Roman"/>
                <a:sym typeface="Times New Roman"/>
              </a:rPr>
              <a:t>🔗 LinkedIn Project Showcase</a:t>
            </a:r>
          </a:p>
          <a:p>
            <a:pPr lvl="0">
              <a:lnSpc>
                <a:spcPct val="162162"/>
              </a:lnSpc>
              <a:buClr>
                <a:srgbClr val="2B3541"/>
              </a:buClr>
              <a:buSzPts val="1850"/>
            </a:pPr>
            <a:r>
              <a:rPr lang="en-IN" sz="2400" dirty="0">
                <a:latin typeface="Times New Roman"/>
                <a:ea typeface="Times New Roman"/>
                <a:cs typeface="Times New Roman"/>
                <a:sym typeface="Times New Roman"/>
                <a:hlinkClick r:id="rId5"/>
              </a:rPr>
              <a:t>https://www.linkedin.com/posts/amisha6828_ibm-ibmskillsbuild-edunetfoundation-ugcPost-7469710786639130624-_gRG/</a:t>
            </a:r>
            <a:endParaRPr lang="en-IN" sz="2400" dirty="0">
              <a:latin typeface="Times New Roman"/>
              <a:ea typeface="Times New Roman"/>
              <a:cs typeface="Times New Roman"/>
              <a:sym typeface="Times New Roman"/>
            </a:endParaRPr>
          </a:p>
          <a:p>
            <a:pPr lvl="0">
              <a:lnSpc>
                <a:spcPct val="162162"/>
              </a:lnSpc>
              <a:buClr>
                <a:srgbClr val="2B3541"/>
              </a:buClr>
              <a:buSzPts val="1850"/>
            </a:pPr>
            <a:endParaRPr sz="240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9332118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30"/>
            <a:ext cx="6444496" cy="623534"/>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Future Scope </a:t>
            </a:r>
            <a:endParaRPr sz="28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153712"/>
            <a:ext cx="9928247" cy="4833431"/>
          </a:xfrm>
          <a:prstGeom prst="rect">
            <a:avLst/>
          </a:prstGeom>
          <a:noFill/>
          <a:ln>
            <a:noFill/>
          </a:ln>
        </p:spPr>
        <p:txBody>
          <a:bodyPr spcFirstLastPara="1" wrap="square" lIns="0" tIns="0" rIns="0" bIns="0" anchor="t" anchorCtr="0">
            <a:noAutofit/>
          </a:bodyPr>
          <a:lstStyle/>
          <a:p>
            <a:r>
              <a:rPr lang="en-US" sz="2000" dirty="0"/>
              <a:t>The Smart Travel Planner Agent can be further enhanced by integrating advanced travel and tourism services to provide a more comprehensive user experience.</a:t>
            </a:r>
          </a:p>
          <a:p>
            <a:endParaRPr lang="en-US" sz="1100" dirty="0"/>
          </a:p>
          <a:p>
            <a:pPr marL="342900" indent="-342900">
              <a:buFont typeface="Arial" panose="020B0604020202020204" pitchFamily="34" charset="0"/>
              <a:buChar char="•"/>
            </a:pPr>
            <a:r>
              <a:rPr lang="en-US" sz="2000" dirty="0"/>
              <a:t>Integration with hotel booking platforms for real-time accommodation recommendations and reservations.</a:t>
            </a:r>
          </a:p>
          <a:p>
            <a:pPr marL="342900" indent="-342900">
              <a:buFont typeface="Arial" panose="020B0604020202020204" pitchFamily="34" charset="0"/>
              <a:buChar char="•"/>
            </a:pPr>
            <a:r>
              <a:rPr lang="en-US" sz="2000" dirty="0"/>
              <a:t>Flight and transportation booking support with dynamic fare comparison.</a:t>
            </a:r>
          </a:p>
          <a:p>
            <a:pPr marL="342900" indent="-342900">
              <a:buFont typeface="Arial" panose="020B0604020202020204" pitchFamily="34" charset="0"/>
              <a:buChar char="•"/>
            </a:pPr>
            <a:r>
              <a:rPr lang="en-US" sz="2000" dirty="0"/>
              <a:t>Google Maps integration for route planning, navigation, and nearby attraction discovery.</a:t>
            </a:r>
          </a:p>
          <a:p>
            <a:pPr marL="342900" indent="-342900">
              <a:buFont typeface="Arial" panose="020B0604020202020204" pitchFamily="34" charset="0"/>
              <a:buChar char="•"/>
            </a:pPr>
            <a:r>
              <a:rPr lang="en-US" sz="2000" dirty="0"/>
              <a:t>Voice-enabled travel assistant for hands-free interaction and trip planning.</a:t>
            </a:r>
          </a:p>
          <a:p>
            <a:pPr marL="342900" indent="-342900">
              <a:buFont typeface="Arial" panose="020B0604020202020204" pitchFamily="34" charset="0"/>
              <a:buChar char="•"/>
            </a:pPr>
            <a:r>
              <a:rPr lang="en-US" sz="2000" dirty="0"/>
              <a:t>Multi-language support to serve users from different regions and countries.</a:t>
            </a:r>
          </a:p>
          <a:p>
            <a:pPr marL="342900" indent="-342900">
              <a:buFont typeface="Arial" panose="020B0604020202020204" pitchFamily="34" charset="0"/>
              <a:buChar char="•"/>
            </a:pPr>
            <a:r>
              <a:rPr lang="en-US" sz="2000" dirty="0"/>
              <a:t>Mobile application development for Android and iOS platforms.</a:t>
            </a:r>
          </a:p>
          <a:p>
            <a:pPr marL="342900" indent="-342900">
              <a:buFont typeface="Arial" panose="020B0604020202020204" pitchFamily="34" charset="0"/>
              <a:buChar char="•"/>
            </a:pPr>
            <a:r>
              <a:rPr lang="en-US" sz="2000" dirty="0"/>
              <a:t>Dynamic pricing intelligence for real-time budget optimization and travel cost tracking.</a:t>
            </a:r>
          </a:p>
          <a:p>
            <a:pPr marL="342900" indent="-342900">
              <a:buFont typeface="Arial" panose="020B0604020202020204" pitchFamily="34" charset="0"/>
              <a:buChar char="•"/>
            </a:pPr>
            <a:r>
              <a:rPr lang="en-US" sz="2000" dirty="0"/>
              <a:t>Personalized recommendation engine based on user travel history and preferences.</a:t>
            </a:r>
          </a:p>
          <a:p>
            <a:pPr marL="342900" indent="-342900">
              <a:buFont typeface="Arial" panose="020B0604020202020204" pitchFamily="34" charset="0"/>
              <a:buChar char="•"/>
            </a:pPr>
            <a:r>
              <a:rPr lang="en-US" sz="2000" dirty="0"/>
              <a:t>AI-powered travel companion capable of providing on-trip assistance and real-time travel alerts.</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30"/>
            <a:ext cx="6444496" cy="623534"/>
          </a:xfrm>
          <a:prstGeom prst="rect">
            <a:avLst/>
          </a:prstGeom>
          <a:noFill/>
          <a:ln>
            <a:noFill/>
          </a:ln>
        </p:spPr>
        <p:txBody>
          <a:bodyPr spcFirstLastPara="1" wrap="square" lIns="0" tIns="0" rIns="0" bIns="0" anchor="t" anchorCtr="0">
            <a:noAutofit/>
          </a:bodyPr>
          <a:lstStyle/>
          <a:p>
            <a:pPr lvl="0">
              <a:lnSpc>
                <a:spcPct val="157142"/>
              </a:lnSpc>
              <a:buClr>
                <a:srgbClr val="051D3A"/>
              </a:buClr>
              <a:buSzPts val="3500"/>
            </a:pPr>
            <a:r>
              <a:rPr lang="en-IN" sz="2800" b="1" dirty="0"/>
              <a:t>Conclusion</a:t>
            </a:r>
            <a:endParaRPr sz="28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153712"/>
            <a:ext cx="9928247" cy="4277001"/>
          </a:xfrm>
          <a:prstGeom prst="rect">
            <a:avLst/>
          </a:prstGeom>
          <a:noFill/>
          <a:ln>
            <a:noFill/>
          </a:ln>
        </p:spPr>
        <p:txBody>
          <a:bodyPr spcFirstLastPara="1" wrap="square" lIns="0" tIns="0" rIns="0" bIns="0" anchor="t" anchorCtr="0">
            <a:noAutofit/>
          </a:bodyPr>
          <a:lstStyle/>
          <a:p>
            <a:r>
              <a:rPr lang="en-US" sz="2000" dirty="0"/>
              <a:t>The Smart Travel Planner Agent successfully demonstrates the practical application of </a:t>
            </a:r>
            <a:r>
              <a:rPr lang="en-US" sz="2000" b="1" dirty="0"/>
              <a:t>Agentic AI, Machine Learning, Retrieval-Augmented Generation (RAG), </a:t>
            </a:r>
            <a:r>
              <a:rPr lang="en-US" sz="2000" dirty="0"/>
              <a:t>and </a:t>
            </a:r>
            <a:r>
              <a:rPr lang="en-US" sz="2000" b="1" dirty="0"/>
              <a:t>IBM watsonx.ai </a:t>
            </a:r>
            <a:r>
              <a:rPr lang="en-US" sz="2000" dirty="0"/>
              <a:t>in solving real-world travel planning challenges.</a:t>
            </a:r>
          </a:p>
          <a:p>
            <a:endParaRPr lang="en-US" sz="2000" dirty="0"/>
          </a:p>
          <a:p>
            <a:r>
              <a:rPr lang="en-US" sz="2000" dirty="0"/>
              <a:t>The system intelligently combines destination recommendations, weather forecasting, travel cost prediction, and knowledge retrieval to generate personalized travel itineraries tailored to user preferences. By leveraging </a:t>
            </a:r>
            <a:r>
              <a:rPr lang="en-US" sz="2000" b="1" dirty="0" err="1"/>
              <a:t>LangFlow</a:t>
            </a:r>
            <a:r>
              <a:rPr lang="en-US" sz="2000" b="1" dirty="0"/>
              <a:t> for multi-agent orchestration, </a:t>
            </a:r>
            <a:r>
              <a:rPr lang="en-US" sz="2000" b="1" dirty="0" err="1"/>
              <a:t>ChromaDB</a:t>
            </a:r>
            <a:r>
              <a:rPr lang="en-US" sz="2000" b="1" dirty="0"/>
              <a:t> </a:t>
            </a:r>
            <a:r>
              <a:rPr lang="en-US" sz="2000" dirty="0"/>
              <a:t>for contextual information retrieval, and Machine Learning for cost estimation, the solution provides an efficient, scalable, and user-centric travel planning experience.</a:t>
            </a:r>
          </a:p>
          <a:p>
            <a:endParaRPr lang="en-US" sz="2000" dirty="0"/>
          </a:p>
          <a:p>
            <a:r>
              <a:rPr lang="en-US" sz="2000" dirty="0"/>
              <a:t>This project highlights how modern AI technologies can transform traditional travel planning into an intelligent, personalized, and data-driven digital experience.</a:t>
            </a:r>
          </a:p>
          <a:p>
            <a:pPr marL="0" marR="0" lvl="0" indent="0" algn="l" rtl="0">
              <a:lnSpc>
                <a:spcPct val="162162"/>
              </a:lnSpc>
              <a:spcBef>
                <a:spcPts val="0"/>
              </a:spcBef>
              <a:spcAft>
                <a:spcPts val="0"/>
              </a:spcAft>
              <a:buClr>
                <a:srgbClr val="2B3541"/>
              </a:buClr>
              <a:buSzPts val="1850"/>
              <a:buFont typeface="Times New Roman"/>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0809974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 name="TextBox 2">
            <a:extLst>
              <a:ext uri="{FF2B5EF4-FFF2-40B4-BE49-F238E27FC236}">
                <a16:creationId xmlns:a16="http://schemas.microsoft.com/office/drawing/2014/main" id="{D4D7125D-EA91-408C-B87D-1BD7F7CDC476}"/>
              </a:ext>
            </a:extLst>
          </p:cNvPr>
          <p:cNvSpPr txBox="1"/>
          <p:nvPr/>
        </p:nvSpPr>
        <p:spPr>
          <a:xfrm>
            <a:off x="679269" y="1356610"/>
            <a:ext cx="10979331" cy="3416320"/>
          </a:xfrm>
          <a:prstGeom prst="rect">
            <a:avLst/>
          </a:prstGeom>
          <a:noFill/>
        </p:spPr>
        <p:txBody>
          <a:bodyPr wrap="square" rtlCol="0">
            <a:spAutoFit/>
          </a:bodyPr>
          <a:lstStyle/>
          <a:p>
            <a:pPr algn="ctr"/>
            <a:r>
              <a:rPr lang="en-US" sz="9600" b="1" dirty="0">
                <a:effectLst>
                  <a:outerShdw blurRad="38100" dist="38100" dir="2700000" algn="tl">
                    <a:srgbClr val="000000">
                      <a:alpha val="43137"/>
                    </a:srgbClr>
                  </a:outerShdw>
                </a:effectLst>
              </a:rPr>
              <a:t>Thank You</a:t>
            </a:r>
          </a:p>
          <a:p>
            <a:pPr algn="ctr"/>
            <a:endParaRPr lang="en-US" sz="2000" i="1" dirty="0"/>
          </a:p>
          <a:p>
            <a:pPr algn="ctr"/>
            <a:endParaRPr lang="en-US" sz="2000" i="1" dirty="0"/>
          </a:p>
          <a:p>
            <a:pPr algn="ctr"/>
            <a:endParaRPr lang="en-US" sz="2000" i="1" dirty="0"/>
          </a:p>
          <a:p>
            <a:pPr algn="ctr"/>
            <a:r>
              <a:rPr lang="en-US" sz="2000" i="1" dirty="0"/>
              <a:t>"Every great journey begins with a smart plan, and every smart plan begins with AI."</a:t>
            </a:r>
            <a:endParaRPr lang="en-US" sz="2000" dirty="0"/>
          </a:p>
          <a:p>
            <a:pPr algn="ctr"/>
            <a:r>
              <a:rPr lang="en-US" sz="2000" b="1" dirty="0"/>
              <a:t>– </a:t>
            </a:r>
            <a:r>
              <a:rPr lang="en-US" sz="2000" b="1" dirty="0" err="1"/>
              <a:t>Goldi</a:t>
            </a:r>
            <a:r>
              <a:rPr lang="en-US" sz="2000" b="1" dirty="0"/>
              <a:t> Kumari</a:t>
            </a:r>
            <a:endParaRPr lang="en-US" sz="2000" dirty="0"/>
          </a:p>
          <a:p>
            <a:pPr algn="ctr"/>
            <a:endParaRPr lang="en-IN" sz="2000"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1297</TotalTime>
  <Words>1288</Words>
  <Application>Microsoft Office PowerPoint</Application>
  <PresentationFormat>Widescreen</PresentationFormat>
  <Paragraphs>236</Paragraphs>
  <Slides>17</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Bookman Old Style</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Goldi Kumari</dc:creator>
  <cp:lastModifiedBy>Ayush kumar Sharma</cp:lastModifiedBy>
  <cp:revision>33</cp:revision>
  <dcterms:created xsi:type="dcterms:W3CDTF">2025-07-08T05:06:56Z</dcterms:created>
  <dcterms:modified xsi:type="dcterms:W3CDTF">2026-06-10T14:21:55Z</dcterms:modified>
</cp:coreProperties>
</file>